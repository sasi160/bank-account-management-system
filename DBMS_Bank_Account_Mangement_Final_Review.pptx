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303" r:id="rId4"/>
    <p:sldId id="259" r:id="rId5"/>
    <p:sldId id="285" r:id="rId6"/>
    <p:sldId id="304" r:id="rId7"/>
    <p:sldId id="284" r:id="rId8"/>
    <p:sldId id="288" r:id="rId9"/>
    <p:sldId id="310" r:id="rId10"/>
    <p:sldId id="311" r:id="rId11"/>
    <p:sldId id="312" r:id="rId12"/>
    <p:sldId id="313" r:id="rId13"/>
    <p:sldId id="314" r:id="rId14"/>
    <p:sldId id="315" r:id="rId15"/>
    <p:sldId id="287" r:id="rId16"/>
    <p:sldId id="305" r:id="rId17"/>
    <p:sldId id="300" r:id="rId18"/>
    <p:sldId id="306" r:id="rId19"/>
    <p:sldId id="292" r:id="rId20"/>
    <p:sldId id="307" r:id="rId21"/>
    <p:sldId id="308" r:id="rId22"/>
    <p:sldId id="293" r:id="rId23"/>
    <p:sldId id="294" r:id="rId24"/>
    <p:sldId id="295" r:id="rId25"/>
    <p:sldId id="309" r:id="rId26"/>
    <p:sldId id="296" r:id="rId27"/>
    <p:sldId id="299" r:id="rId28"/>
    <p:sldId id="297" r:id="rId29"/>
    <p:sldId id="268" r:id="rId30"/>
    <p:sldId id="269" r:id="rId31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9C24A-1F65-4140-B64F-DAF31CA90097}" v="19" dt="2026-07-20T06:26:16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2" d="100"/>
          <a:sy n="62" d="100"/>
        </p:scale>
        <p:origin x="1464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0B3852-E344-4EA6-839C-8255ADF9FACE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IN"/>
        </a:p>
      </dgm:t>
    </dgm:pt>
    <dgm:pt modelId="{2345E74F-690B-4E6B-8C70-A7782E7B0E14}" type="pres">
      <dgm:prSet presAssocID="{CF0B3852-E344-4EA6-839C-8255ADF9FACE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D3D414F8-1C62-46B8-8D8C-880D092F704A}" type="presOf" srcId="{CF0B3852-E344-4EA6-839C-8255ADF9FACE}" destId="{2345E74F-690B-4E6B-8C70-A7782E7B0E1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mailto:meena@bank.in" TargetMode="External"/><Relationship Id="rId3" Type="http://schemas.openxmlformats.org/officeDocument/2006/relationships/image" Target="../media/image7.png"/><Relationship Id="rId7" Type="http://schemas.openxmlformats.org/officeDocument/2006/relationships/hyperlink" Target="mailto:vijay@bank.in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sunita@bank.in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829288"/>
            <a:ext cx="8751412" cy="374589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800" dirty="0"/>
              <a:t>BANK ACCOUNT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sz="18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18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8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P.Durga</a:t>
            </a: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  - 25B11AI971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8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P.Sasi</a:t>
            </a: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- 25B11AI874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8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M.Dedipya</a:t>
            </a: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- 25B11AI767 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8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K.Chinmai</a:t>
            </a: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-25B11AI548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lang="en-IN" sz="18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IN" sz="18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Artificial Intelligence &amp; Machine Learning</a:t>
            </a:r>
            <a:endParaRPr lang="en-IN" sz="18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061833-1F92-E4C8-CFD3-305A4A8A1BE0}"/>
              </a:ext>
            </a:extLst>
          </p:cNvPr>
          <p:cNvSpPr txBox="1"/>
          <p:nvPr/>
        </p:nvSpPr>
        <p:spPr>
          <a:xfrm>
            <a:off x="914400" y="974132"/>
            <a:ext cx="76962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ABSTRACT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r>
              <a:rPr lang="en-IN" sz="2000" dirty="0"/>
              <a:t>The </a:t>
            </a:r>
            <a:r>
              <a:rPr lang="en-IN" sz="2000" b="1" dirty="0"/>
              <a:t>Bank Account Management System</a:t>
            </a:r>
            <a:r>
              <a:rPr lang="en-IN" sz="2000" dirty="0"/>
              <a:t> is a database-based application designed to manage banking information in an organized and efficient manner.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Maintains customer, account, branch, transaction, loan, and employee details.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Supports basic banking operations such as deposits, withdrawals, and balance enquiry.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Stores and manages banking records using SQL.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Uses database constraints to maintain data accuracy and consistency.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Reduces manual work and minimizes data errors.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Provides easy storage, retrieval, and updating of banking information.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019E8A12-5BB0-0A7F-1E4C-583B00FE33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538832"/>
              </p:ext>
            </p:extLst>
          </p:nvPr>
        </p:nvGraphicFramePr>
        <p:xfrm>
          <a:off x="4229100" y="-304800"/>
          <a:ext cx="1600200" cy="1592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object 7">
            <a:extLst>
              <a:ext uri="{FF2B5EF4-FFF2-40B4-BE49-F238E27FC236}">
                <a16:creationId xmlns:a16="http://schemas.microsoft.com/office/drawing/2014/main" id="{D2535A19-D2C3-7E4A-862E-985B2BBEE858}"/>
              </a:ext>
            </a:extLst>
          </p:cNvPr>
          <p:cNvSpPr/>
          <p:nvPr/>
        </p:nvSpPr>
        <p:spPr>
          <a:xfrm>
            <a:off x="3124201" y="59732"/>
            <a:ext cx="2705100" cy="549868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sz="3200" dirty="0">
                <a:solidFill>
                  <a:schemeClr val="bg1"/>
                </a:solidFill>
              </a:rPr>
              <a:t>  ABSTRACT</a:t>
            </a:r>
            <a:endParaRPr sz="3200" dirty="0">
              <a:solidFill>
                <a:schemeClr val="bg1"/>
              </a:solidFill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82E19D2C-4DE1-1832-8CAD-E1979949AC04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4243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1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C9DE82-E8BA-FC4F-3CA3-3E4C419F8875}"/>
              </a:ext>
            </a:extLst>
          </p:cNvPr>
          <p:cNvSpPr txBox="1"/>
          <p:nvPr/>
        </p:nvSpPr>
        <p:spPr>
          <a:xfrm>
            <a:off x="533400" y="1063862"/>
            <a:ext cx="9525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FINALIZE TITLE, OBJECTIVES &amp; PROBLEM STATEMENT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r>
              <a:rPr lang="en-IN" sz="2000" b="1" dirty="0"/>
              <a:t>Project Title</a:t>
            </a:r>
          </a:p>
          <a:p>
            <a:pPr>
              <a:buNone/>
            </a:pPr>
            <a:r>
              <a:rPr lang="en-IN" sz="2000" b="1" dirty="0"/>
              <a:t>Bank Account Management System</a:t>
            </a:r>
            <a:endParaRPr lang="en-IN" sz="2000" dirty="0"/>
          </a:p>
          <a:p>
            <a:pPr>
              <a:buNone/>
            </a:pPr>
            <a:r>
              <a:rPr lang="en-IN" sz="2000" b="1" dirty="0"/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Maintain customer and account details efficiently.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Manage deposits, withdrawals, and balance enquiry.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Store transaction information systematically.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Reduce manual work and data entry errors.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 easy retrieval and updating of account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Maintain branch, loan, and employee records.</a:t>
            </a:r>
          </a:p>
          <a:p>
            <a:pPr>
              <a:buNone/>
            </a:pPr>
            <a:r>
              <a:rPr lang="en-IN" sz="2000" b="1" dirty="0"/>
              <a:t>Problem Statement</a:t>
            </a:r>
          </a:p>
          <a:p>
            <a:pPr>
              <a:buNone/>
            </a:pPr>
            <a:r>
              <a:rPr lang="en-IN" sz="2000" dirty="0"/>
              <a:t>Manual bank account management involves handling large amounts of customer and transaction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Manual records are time-consuming.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Searching and updating information is difficult.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Data duplication and entry errors may occur.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Maintaining transaction history becomes difficult as records increase.</a:t>
            </a:r>
          </a:p>
          <a:p>
            <a:pPr>
              <a:buNone/>
            </a:pPr>
            <a:r>
              <a:rPr lang="en-IN" sz="2000" b="1" dirty="0"/>
              <a:t>Proposed Solution:</a:t>
            </a:r>
            <a:br>
              <a:rPr lang="en-IN" sz="2000" dirty="0"/>
            </a:br>
            <a:r>
              <a:rPr lang="en-IN" sz="2000" dirty="0"/>
              <a:t>A relational database system to store and manage banking information efficiently and systematically.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55531-1403-2A47-47B6-6E5034A5C09C}"/>
              </a:ext>
            </a:extLst>
          </p:cNvPr>
          <p:cNvSpPr txBox="1"/>
          <p:nvPr/>
        </p:nvSpPr>
        <p:spPr>
          <a:xfrm>
            <a:off x="1219200" y="910765"/>
            <a:ext cx="74676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ENTITIES &amp; ATTRIBUTES</a:t>
            </a:r>
          </a:p>
          <a:p>
            <a:pPr>
              <a:buNone/>
            </a:pPr>
            <a:r>
              <a:rPr lang="en-IN" b="1" dirty="0"/>
              <a:t>1. CUSTOMER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customer_id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first_name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last_name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dob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pan_number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email</a:t>
            </a:r>
          </a:p>
          <a:p>
            <a:pPr>
              <a:buNone/>
            </a:pPr>
            <a:r>
              <a:rPr lang="en-IN" b="1" dirty="0"/>
              <a:t>2. BRANCH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branch_id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branch_name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ifsc_code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state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manager_id</a:t>
            </a:r>
            <a:endParaRPr lang="en-IN" dirty="0"/>
          </a:p>
          <a:p>
            <a:pPr>
              <a:buNone/>
            </a:pPr>
            <a:r>
              <a:rPr lang="en-IN" b="1" dirty="0"/>
              <a:t>3. ACCOUNT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account_id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account_number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account_type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balance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customer_id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branch_id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9E7AF816-E66D-74AB-52BA-3168DDC3D644}"/>
              </a:ext>
            </a:extLst>
          </p:cNvPr>
          <p:cNvGrpSpPr/>
          <p:nvPr/>
        </p:nvGrpSpPr>
        <p:grpSpPr>
          <a:xfrm>
            <a:off x="2551416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415138F9-6658-6E6D-F9C6-6532F5A31C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B13C65D0-3ED4-33AB-7871-B8F01EAC6C9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B6DA8282-F56A-8EB8-AF31-FE98FB61E8B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D5C1803-5F8D-B694-DD01-75AB041E85F9}"/>
                </a:ext>
              </a:extLst>
            </p:cNvPr>
            <p:cNvSpPr/>
            <p:nvPr/>
          </p:nvSpPr>
          <p:spPr>
            <a:xfrm>
              <a:off x="2687478" y="163081"/>
              <a:ext cx="4868161" cy="483222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I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ENTITIES &amp; ATTRIBUTES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1AA1791-B049-7667-4AA7-DD4B9EB4C260}"/>
              </a:ext>
            </a:extLst>
          </p:cNvPr>
          <p:cNvSpPr txBox="1"/>
          <p:nvPr/>
        </p:nvSpPr>
        <p:spPr>
          <a:xfrm>
            <a:off x="2514600" y="3291869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81A03-BD5E-7E6A-5C20-5D1B2E5DB112}"/>
              </a:ext>
            </a:extLst>
          </p:cNvPr>
          <p:cNvSpPr txBox="1"/>
          <p:nvPr/>
        </p:nvSpPr>
        <p:spPr>
          <a:xfrm>
            <a:off x="1066800" y="914400"/>
            <a:ext cx="7086600" cy="60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 TRANSACTION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txn_id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account_id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txn_type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amount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txn_date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balance_after</a:t>
            </a:r>
            <a:endParaRPr lang="en-IN" dirty="0"/>
          </a:p>
          <a:p>
            <a:pPr>
              <a:buNone/>
            </a:pPr>
            <a:r>
              <a:rPr lang="en-IN" b="1" dirty="0"/>
              <a:t>5. LOAN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loan_id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customer_id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branch_id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loan_type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principal_amount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interest_rate</a:t>
            </a:r>
            <a:endParaRPr lang="en-IN" dirty="0"/>
          </a:p>
          <a:p>
            <a:pPr>
              <a:buNone/>
            </a:pPr>
            <a:r>
              <a:rPr lang="en-IN" b="1" dirty="0"/>
              <a:t>6. EMPLOYEE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employee_id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first_name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last_name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designation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salary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branch_id</a:t>
            </a:r>
            <a:endParaRPr lang="en-IN" dirty="0"/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D1CB8FC8-2712-AB68-4C7A-27A4ED2E0F4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642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AA76D9-6331-F16D-DC65-7D0A6736B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30356"/>
            <a:ext cx="10058400" cy="591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FB4DEB6-ACDB-361D-1449-09106A422E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57403"/>
            <a:ext cx="9906000" cy="384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693ED04-348B-D85A-7733-81CEE5B4B6F1}"/>
              </a:ext>
            </a:extLst>
          </p:cNvPr>
          <p:cNvSpPr txBox="1"/>
          <p:nvPr/>
        </p:nvSpPr>
        <p:spPr>
          <a:xfrm>
            <a:off x="2514600" y="3344529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512063-1ECD-27DD-143A-89B54BFE1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47583"/>
            <a:ext cx="9525000" cy="3781617"/>
          </a:xfrm>
          <a:prstGeom prst="rect">
            <a:avLst/>
          </a:prstGeom>
        </p:spPr>
      </p:pic>
      <p:pic>
        <p:nvPicPr>
          <p:cNvPr id="15" name="object 3">
            <a:extLst>
              <a:ext uri="{FF2B5EF4-FFF2-40B4-BE49-F238E27FC236}">
                <a16:creationId xmlns:a16="http://schemas.microsoft.com/office/drawing/2014/main" id="{085ABC6D-3E63-B993-84D2-A255935917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96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1ACEF9-247C-10FC-118F-62944249C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95400"/>
            <a:ext cx="9463418" cy="4638764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58193B49-25F8-1250-31A9-E569921A589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28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54F57E-1EEA-A144-4506-193AC9419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3303"/>
            <a:ext cx="9546312" cy="4965794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71DCE13C-2D63-EA6A-7B38-58F84A606C8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91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D1AEA9-9793-0FCD-7F62-694A1FF11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37" y="1676400"/>
            <a:ext cx="9801726" cy="4953000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0D6BC0CE-00D2-1BAE-8EF8-362D09FDF55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79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FCFD6D-5092-DAA9-B95D-F2B6A5CA7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7" y="1600200"/>
            <a:ext cx="10047513" cy="4451430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98A7F50C-A777-FA40-3CF1-FDCBA00C0C6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57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60F80A-5B49-4F6D-9E01-D6C59E16B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27" y="1447800"/>
            <a:ext cx="10059521" cy="3581400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267CCB42-5C00-8C60-5486-A98AA3A50F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81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899" y="157957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B1A29B-453C-BF5A-0EE0-FF1262C5AC0B}"/>
              </a:ext>
            </a:extLst>
          </p:cNvPr>
          <p:cNvSpPr txBox="1"/>
          <p:nvPr/>
        </p:nvSpPr>
        <p:spPr>
          <a:xfrm>
            <a:off x="914400" y="1040290"/>
            <a:ext cx="8228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Primary Key (PK)</a:t>
            </a:r>
          </a:p>
          <a:p>
            <a:pPr>
              <a:buNone/>
            </a:pPr>
            <a:r>
              <a:rPr lang="en-IN" dirty="0"/>
              <a:t>A </a:t>
            </a:r>
            <a:r>
              <a:rPr lang="en-IN" b="1" dirty="0"/>
              <a:t>Primary Key</a:t>
            </a:r>
            <a:r>
              <a:rPr lang="en-IN" dirty="0"/>
              <a:t> is a column that uniquely identifies each record in a table. It </a:t>
            </a:r>
            <a:r>
              <a:rPr lang="en-IN" b="1" dirty="0"/>
              <a:t>cannot contain duplicate or NULL values</a:t>
            </a:r>
            <a:r>
              <a:rPr lang="en-IN" dirty="0"/>
              <a:t>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3AC4E49-0E09-82DF-E379-E3DAC5780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598061"/>
              </p:ext>
            </p:extLst>
          </p:nvPr>
        </p:nvGraphicFramePr>
        <p:xfrm>
          <a:off x="609600" y="2199310"/>
          <a:ext cx="8984373" cy="4304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68052">
                  <a:extLst>
                    <a:ext uri="{9D8B030D-6E8A-4147-A177-3AD203B41FA5}">
                      <a16:colId xmlns:a16="http://schemas.microsoft.com/office/drawing/2014/main" val="2721646816"/>
                    </a:ext>
                  </a:extLst>
                </a:gridCol>
                <a:gridCol w="3021530">
                  <a:extLst>
                    <a:ext uri="{9D8B030D-6E8A-4147-A177-3AD203B41FA5}">
                      <a16:colId xmlns:a16="http://schemas.microsoft.com/office/drawing/2014/main" val="2889941957"/>
                    </a:ext>
                  </a:extLst>
                </a:gridCol>
                <a:gridCol w="2994791">
                  <a:extLst>
                    <a:ext uri="{9D8B030D-6E8A-4147-A177-3AD203B41FA5}">
                      <a16:colId xmlns:a16="http://schemas.microsoft.com/office/drawing/2014/main" val="2285627898"/>
                    </a:ext>
                  </a:extLst>
                </a:gridCol>
              </a:tblGrid>
              <a:tr h="716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Table</a:t>
                      </a:r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Primary Key</a:t>
                      </a:r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Purpose</a:t>
                      </a:r>
                    </a:p>
                  </a:txBody>
                  <a:tcPr marL="76606" marR="76606" marT="38303" marB="38303" anchor="ctr"/>
                </a:tc>
                <a:extLst>
                  <a:ext uri="{0D108BD9-81ED-4DB2-BD59-A6C34878D82A}">
                    <a16:rowId xmlns:a16="http://schemas.microsoft.com/office/drawing/2014/main" val="4089674687"/>
                  </a:ext>
                </a:extLst>
              </a:tr>
              <a:tr h="620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CUSTOMER</a:t>
                      </a:r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customer_id</a:t>
                      </a:r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Uniquely identifies each customer</a:t>
                      </a:r>
                    </a:p>
                  </a:txBody>
                  <a:tcPr marL="76606" marR="76606" marT="38303" marB="38303" anchor="ctr"/>
                </a:tc>
                <a:extLst>
                  <a:ext uri="{0D108BD9-81ED-4DB2-BD59-A6C34878D82A}">
                    <a16:rowId xmlns:a16="http://schemas.microsoft.com/office/drawing/2014/main" val="3174131859"/>
                  </a:ext>
                </a:extLst>
              </a:tr>
              <a:tr h="620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BRANCH</a:t>
                      </a:r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/>
                        <a:t>branch_id</a:t>
                      </a:r>
                      <a:endParaRPr lang="en-IN" sz="1500" dirty="0"/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Uniquely identifies each branch</a:t>
                      </a:r>
                    </a:p>
                  </a:txBody>
                  <a:tcPr marL="76606" marR="76606" marT="38303" marB="38303" anchor="ctr"/>
                </a:tc>
                <a:extLst>
                  <a:ext uri="{0D108BD9-81ED-4DB2-BD59-A6C34878D82A}">
                    <a16:rowId xmlns:a16="http://schemas.microsoft.com/office/drawing/2014/main" val="4019311212"/>
                  </a:ext>
                </a:extLst>
              </a:tr>
              <a:tr h="620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ACCOUNT</a:t>
                      </a:r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account_id</a:t>
                      </a:r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Uniquely identifies each bank account</a:t>
                      </a:r>
                    </a:p>
                  </a:txBody>
                  <a:tcPr marL="76606" marR="76606" marT="38303" marB="38303" anchor="ctr"/>
                </a:tc>
                <a:extLst>
                  <a:ext uri="{0D108BD9-81ED-4DB2-BD59-A6C34878D82A}">
                    <a16:rowId xmlns:a16="http://schemas.microsoft.com/office/drawing/2014/main" val="2017630053"/>
                  </a:ext>
                </a:extLst>
              </a:tr>
              <a:tr h="620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TRANSACTION</a:t>
                      </a:r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/>
                        <a:t>transaction_id</a:t>
                      </a:r>
                      <a:endParaRPr lang="en-IN" sz="1500" dirty="0"/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Uniquely identifies each transaction</a:t>
                      </a:r>
                    </a:p>
                  </a:txBody>
                  <a:tcPr marL="76606" marR="76606" marT="38303" marB="38303" anchor="ctr"/>
                </a:tc>
                <a:extLst>
                  <a:ext uri="{0D108BD9-81ED-4DB2-BD59-A6C34878D82A}">
                    <a16:rowId xmlns:a16="http://schemas.microsoft.com/office/drawing/2014/main" val="1211553649"/>
                  </a:ext>
                </a:extLst>
              </a:tr>
              <a:tr h="48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LOAN</a:t>
                      </a:r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/>
                        <a:t>loan_id</a:t>
                      </a:r>
                      <a:endParaRPr lang="en-IN" sz="1500" dirty="0"/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Uniquely identifies each loan</a:t>
                      </a:r>
                    </a:p>
                  </a:txBody>
                  <a:tcPr marL="76606" marR="76606" marT="38303" marB="38303" anchor="ctr"/>
                </a:tc>
                <a:extLst>
                  <a:ext uri="{0D108BD9-81ED-4DB2-BD59-A6C34878D82A}">
                    <a16:rowId xmlns:a16="http://schemas.microsoft.com/office/drawing/2014/main" val="2641048669"/>
                  </a:ext>
                </a:extLst>
              </a:tr>
              <a:tr h="620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EMPLOYEE</a:t>
                      </a:r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/>
                        <a:t>employee_id</a:t>
                      </a:r>
                      <a:endParaRPr lang="en-IN" sz="1500" dirty="0"/>
                    </a:p>
                  </a:txBody>
                  <a:tcPr marL="76606" marR="76606" marT="38303" marB="38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Uniquely identifies each employee</a:t>
                      </a:r>
                    </a:p>
                  </a:txBody>
                  <a:tcPr marL="76606" marR="76606" marT="38303" marB="38303" anchor="ctr"/>
                </a:tc>
                <a:extLst>
                  <a:ext uri="{0D108BD9-81ED-4DB2-BD59-A6C34878D82A}">
                    <a16:rowId xmlns:a16="http://schemas.microsoft.com/office/drawing/2014/main" val="3812308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A724FAC8-4B20-349C-F826-2B87CA5737BB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4BC84315-BA65-8EC6-F162-04627D16D8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90B6F0AB-B79D-EA3E-E9D1-116AB7685D8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3F698225-EF69-CB68-C090-F90A81E3EBD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D718921-2EA2-081B-C2F2-5811D218D5A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PRIMARY</a:t>
              </a:r>
              <a:r>
                <a:rPr lang="en-IN" sz="2400" dirty="0"/>
                <a:t> </a:t>
              </a:r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r>
                <a:rPr lang="en-IN" sz="2400" dirty="0"/>
                <a:t> </a:t>
              </a:r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FOREIGN</a:t>
              </a:r>
              <a:r>
                <a:rPr lang="en-IN" sz="2400" dirty="0"/>
                <a:t> </a:t>
              </a:r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KEYS</a:t>
              </a:r>
            </a:p>
            <a:p>
              <a:endParaRPr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CA7089E-D708-D2B7-A8AA-1EACA31931E8}"/>
              </a:ext>
            </a:extLst>
          </p:cNvPr>
          <p:cNvSpPr txBox="1"/>
          <p:nvPr/>
        </p:nvSpPr>
        <p:spPr>
          <a:xfrm>
            <a:off x="2514600" y="3344529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79587-F8D2-2723-CC86-AA0EA557DB3C}"/>
              </a:ext>
            </a:extLst>
          </p:cNvPr>
          <p:cNvSpPr txBox="1"/>
          <p:nvPr/>
        </p:nvSpPr>
        <p:spPr>
          <a:xfrm>
            <a:off x="633332" y="1205820"/>
            <a:ext cx="71101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Foreign Key (FK)</a:t>
            </a:r>
          </a:p>
          <a:p>
            <a:r>
              <a:rPr lang="en-IN" dirty="0"/>
              <a:t>A </a:t>
            </a:r>
            <a:r>
              <a:rPr lang="en-IN" b="1" dirty="0"/>
              <a:t>Foreign Key</a:t>
            </a:r>
            <a:r>
              <a:rPr lang="en-IN" dirty="0"/>
              <a:t> is a column that creates a relationship between two tables by referring to the </a:t>
            </a:r>
            <a:r>
              <a:rPr lang="en-IN" b="1" dirty="0"/>
              <a:t>Primary Key of another table</a:t>
            </a:r>
            <a:r>
              <a:rPr lang="en-IN" dirty="0"/>
              <a:t>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34F93BE-6444-26AF-D299-FB6CD7C16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011829"/>
              </p:ext>
            </p:extLst>
          </p:nvPr>
        </p:nvGraphicFramePr>
        <p:xfrm>
          <a:off x="304800" y="2274158"/>
          <a:ext cx="9296400" cy="5177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4100">
                  <a:extLst>
                    <a:ext uri="{9D8B030D-6E8A-4147-A177-3AD203B41FA5}">
                      <a16:colId xmlns:a16="http://schemas.microsoft.com/office/drawing/2014/main" val="4172031842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781759449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194790923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3522596755"/>
                    </a:ext>
                  </a:extLst>
                </a:gridCol>
              </a:tblGrid>
              <a:tr h="52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Table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Foreign Key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References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Purpose</a:t>
                      </a:r>
                    </a:p>
                  </a:txBody>
                  <a:tcPr marL="84463" marR="84463" marT="42232" marB="42232" anchor="ctr"/>
                </a:tc>
                <a:extLst>
                  <a:ext uri="{0D108BD9-81ED-4DB2-BD59-A6C34878D82A}">
                    <a16:rowId xmlns:a16="http://schemas.microsoft.com/office/drawing/2014/main" val="1191167372"/>
                  </a:ext>
                </a:extLst>
              </a:tr>
              <a:tr h="929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ACCOUNT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customer_id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CUSTOMER(customer_id)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Links an account to a customer</a:t>
                      </a:r>
                    </a:p>
                  </a:txBody>
                  <a:tcPr marL="84463" marR="84463" marT="42232" marB="42232" anchor="ctr"/>
                </a:tc>
                <a:extLst>
                  <a:ext uri="{0D108BD9-81ED-4DB2-BD59-A6C34878D82A}">
                    <a16:rowId xmlns:a16="http://schemas.microsoft.com/office/drawing/2014/main" val="3065065686"/>
                  </a:ext>
                </a:extLst>
              </a:tr>
              <a:tr h="929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ACCOUNT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branch_id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BRANCH(branch_id)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Links an account to a branch</a:t>
                      </a:r>
                    </a:p>
                  </a:txBody>
                  <a:tcPr marL="84463" marR="84463" marT="42232" marB="42232" anchor="ctr"/>
                </a:tc>
                <a:extLst>
                  <a:ext uri="{0D108BD9-81ED-4DB2-BD59-A6C34878D82A}">
                    <a16:rowId xmlns:a16="http://schemas.microsoft.com/office/drawing/2014/main" val="3013560132"/>
                  </a:ext>
                </a:extLst>
              </a:tr>
              <a:tr h="929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TRANSACTION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account_id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ACCOUNT(account_id)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Links a transaction to an account</a:t>
                      </a:r>
                    </a:p>
                  </a:txBody>
                  <a:tcPr marL="84463" marR="84463" marT="42232" marB="42232" anchor="ctr"/>
                </a:tc>
                <a:extLst>
                  <a:ext uri="{0D108BD9-81ED-4DB2-BD59-A6C34878D82A}">
                    <a16:rowId xmlns:a16="http://schemas.microsoft.com/office/drawing/2014/main" val="567440284"/>
                  </a:ext>
                </a:extLst>
              </a:tr>
              <a:tr h="929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LOAN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customer_id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CUSTOMER(customer_id)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Links a loan to a customer</a:t>
                      </a:r>
                    </a:p>
                  </a:txBody>
                  <a:tcPr marL="84463" marR="84463" marT="42232" marB="42232" anchor="ctr"/>
                </a:tc>
                <a:extLst>
                  <a:ext uri="{0D108BD9-81ED-4DB2-BD59-A6C34878D82A}">
                    <a16:rowId xmlns:a16="http://schemas.microsoft.com/office/drawing/2014/main" val="1510707086"/>
                  </a:ext>
                </a:extLst>
              </a:tr>
              <a:tr h="929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EMPLOYEE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branch_id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BRANCH(branch_id)</a:t>
                      </a:r>
                    </a:p>
                  </a:txBody>
                  <a:tcPr marL="84463" marR="84463" marT="42232" marB="42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Links an employee to a branch</a:t>
                      </a:r>
                    </a:p>
                  </a:txBody>
                  <a:tcPr marL="84463" marR="84463" marT="42232" marB="42232" anchor="ctr"/>
                </a:tc>
                <a:extLst>
                  <a:ext uri="{0D108BD9-81ED-4DB2-BD59-A6C34878D82A}">
                    <a16:rowId xmlns:a16="http://schemas.microsoft.com/office/drawing/2014/main" val="750950712"/>
                  </a:ext>
                </a:extLst>
              </a:tr>
            </a:tbl>
          </a:graphicData>
        </a:graphic>
      </p:graphicFrame>
      <p:pic>
        <p:nvPicPr>
          <p:cNvPr id="16" name="object 3">
            <a:extLst>
              <a:ext uri="{FF2B5EF4-FFF2-40B4-BE49-F238E27FC236}">
                <a16:creationId xmlns:a16="http://schemas.microsoft.com/office/drawing/2014/main" id="{BCF23A50-B7FA-B9EC-AD41-435B5FEADFB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74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9C040A-8E2B-F40F-5B16-6B5114C9AA3A}"/>
              </a:ext>
            </a:extLst>
          </p:cNvPr>
          <p:cNvSpPr txBox="1"/>
          <p:nvPr/>
        </p:nvSpPr>
        <p:spPr>
          <a:xfrm>
            <a:off x="457200" y="765599"/>
            <a:ext cx="6634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GitHub Repository Name:</a:t>
            </a:r>
          </a:p>
          <a:p>
            <a:r>
              <a:rPr lang="en-IN" dirty="0"/>
              <a:t>BANK- ACCOUNT- MANAGEMENT-SYSTEM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3A58BB-70FA-E780-EB35-F6BB20D46D73}"/>
              </a:ext>
            </a:extLst>
          </p:cNvPr>
          <p:cNvSpPr txBox="1"/>
          <p:nvPr/>
        </p:nvSpPr>
        <p:spPr>
          <a:xfrm>
            <a:off x="457200" y="1322610"/>
            <a:ext cx="8991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Repository Purpose:</a:t>
            </a:r>
          </a:p>
          <a:p>
            <a:pPr algn="l"/>
            <a:r>
              <a:rPr lang="en-IN" sz="2000" dirty="0"/>
              <a:t>To collaboratively develop, manage, and document the </a:t>
            </a:r>
            <a:r>
              <a:rPr lang="en-IN" sz="2000" b="1" dirty="0"/>
              <a:t>Bank Account Management System</a:t>
            </a:r>
            <a:r>
              <a:rPr lang="en-IN" sz="2000" dirty="0"/>
              <a:t> using GitHub. The repository will contain the source code, database scripts, documentation, and project presentation files.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83F8B25-3AF0-55FD-FD4A-8EB68522C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830237"/>
              </p:ext>
            </p:extLst>
          </p:nvPr>
        </p:nvGraphicFramePr>
        <p:xfrm>
          <a:off x="381003" y="2819400"/>
          <a:ext cx="9060570" cy="4403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20190">
                  <a:extLst>
                    <a:ext uri="{9D8B030D-6E8A-4147-A177-3AD203B41FA5}">
                      <a16:colId xmlns:a16="http://schemas.microsoft.com/office/drawing/2014/main" val="2286195266"/>
                    </a:ext>
                  </a:extLst>
                </a:gridCol>
                <a:gridCol w="3020190">
                  <a:extLst>
                    <a:ext uri="{9D8B030D-6E8A-4147-A177-3AD203B41FA5}">
                      <a16:colId xmlns:a16="http://schemas.microsoft.com/office/drawing/2014/main" val="2963185265"/>
                    </a:ext>
                  </a:extLst>
                </a:gridCol>
                <a:gridCol w="3020190">
                  <a:extLst>
                    <a:ext uri="{9D8B030D-6E8A-4147-A177-3AD203B41FA5}">
                      <a16:colId xmlns:a16="http://schemas.microsoft.com/office/drawing/2014/main" val="4129330339"/>
                    </a:ext>
                  </a:extLst>
                </a:gridCol>
              </a:tblGrid>
              <a:tr h="313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Team Member</a:t>
                      </a:r>
                    </a:p>
                  </a:txBody>
                  <a:tcPr marL="44514" marR="44514" marT="22257" marB="222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Roll Number</a:t>
                      </a:r>
                    </a:p>
                  </a:txBody>
                  <a:tcPr marL="44514" marR="44514" marT="22257" marB="222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Responsibility</a:t>
                      </a:r>
                    </a:p>
                  </a:txBody>
                  <a:tcPr marL="44514" marR="44514" marT="22257" marB="22257" anchor="ctr"/>
                </a:tc>
                <a:extLst>
                  <a:ext uri="{0D108BD9-81ED-4DB2-BD59-A6C34878D82A}">
                    <a16:rowId xmlns:a16="http://schemas.microsoft.com/office/drawing/2014/main" val="2652429733"/>
                  </a:ext>
                </a:extLst>
              </a:tr>
              <a:tr h="1022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P. Durga Devi</a:t>
                      </a:r>
                    </a:p>
                  </a:txBody>
                  <a:tcPr marL="44514" marR="44514" marT="22257" marB="222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25B11AI971</a:t>
                      </a:r>
                    </a:p>
                  </a:txBody>
                  <a:tcPr marL="44514" marR="44514" marT="22257" marB="222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Team Lead &amp; GitHub Management – Create and manage the repository, coordinate team work, and maintain project documentation.</a:t>
                      </a:r>
                    </a:p>
                  </a:txBody>
                  <a:tcPr marL="44514" marR="44514" marT="22257" marB="22257" anchor="ctr"/>
                </a:tc>
                <a:extLst>
                  <a:ext uri="{0D108BD9-81ED-4DB2-BD59-A6C34878D82A}">
                    <a16:rowId xmlns:a16="http://schemas.microsoft.com/office/drawing/2014/main" val="1994874737"/>
                  </a:ext>
                </a:extLst>
              </a:tr>
              <a:tr h="1022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P. Sasi</a:t>
                      </a:r>
                    </a:p>
                  </a:txBody>
                  <a:tcPr marL="44514" marR="44514" marT="22257" marB="222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25B11AI874</a:t>
                      </a:r>
                    </a:p>
                  </a:txBody>
                  <a:tcPr marL="44514" marR="44514" marT="22257" marB="222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Database Developer – Design the database schema, create tables, define primary/foreign keys, constraints, and write SQL queries.</a:t>
                      </a:r>
                    </a:p>
                  </a:txBody>
                  <a:tcPr marL="44514" marR="44514" marT="22257" marB="22257" anchor="ctr"/>
                </a:tc>
                <a:extLst>
                  <a:ext uri="{0D108BD9-81ED-4DB2-BD59-A6C34878D82A}">
                    <a16:rowId xmlns:a16="http://schemas.microsoft.com/office/drawing/2014/main" val="50739066"/>
                  </a:ext>
                </a:extLst>
              </a:tr>
              <a:tr h="1022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M. Dedipya</a:t>
                      </a:r>
                    </a:p>
                  </a:txBody>
                  <a:tcPr marL="44514" marR="44514" marT="22257" marB="222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25B11AI767</a:t>
                      </a:r>
                    </a:p>
                  </a:txBody>
                  <a:tcPr marL="44514" marR="44514" marT="22257" marB="222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Backend Developer – Develop account operations such as account creation, deposit, withdrawal, balance enquiry, and transaction management.</a:t>
                      </a:r>
                    </a:p>
                  </a:txBody>
                  <a:tcPr marL="44514" marR="44514" marT="22257" marB="22257" anchor="ctr"/>
                </a:tc>
                <a:extLst>
                  <a:ext uri="{0D108BD9-81ED-4DB2-BD59-A6C34878D82A}">
                    <a16:rowId xmlns:a16="http://schemas.microsoft.com/office/drawing/2014/main" val="1515130775"/>
                  </a:ext>
                </a:extLst>
              </a:tr>
              <a:tr h="1022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K. Chinmai</a:t>
                      </a:r>
                    </a:p>
                  </a:txBody>
                  <a:tcPr marL="44514" marR="44514" marT="22257" marB="222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25B11AI548</a:t>
                      </a:r>
                    </a:p>
                  </a:txBody>
                  <a:tcPr marL="44514" marR="44514" marT="22257" marB="222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Frontend &amp; Testing – Design the user interface, connect frontend with the system, perform testing, and identify/fix errors.</a:t>
                      </a:r>
                    </a:p>
                  </a:txBody>
                  <a:tcPr marL="44514" marR="44514" marT="22257" marB="22257" anchor="ctr"/>
                </a:tc>
                <a:extLst>
                  <a:ext uri="{0D108BD9-81ED-4DB2-BD59-A6C34878D82A}">
                    <a16:rowId xmlns:a16="http://schemas.microsoft.com/office/drawing/2014/main" val="743497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9F88045-D051-B4E9-B6A1-AF22FAA957B5}"/>
              </a:ext>
            </a:extLst>
          </p:cNvPr>
          <p:cNvSpPr txBox="1"/>
          <p:nvPr/>
        </p:nvSpPr>
        <p:spPr>
          <a:xfrm>
            <a:off x="914400" y="776602"/>
            <a:ext cx="701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GitHub Repository Structure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098F6CCD-7289-19A9-8717-1DD9E61003F1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27242062-6EA2-3EE5-111B-B78BEFFDFAE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7B826A93-79BA-5E3A-F76A-06B1936C4FE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C53E8816-36EE-52B0-A1FB-5B1151EB72F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50D3E029-BD21-9AAC-904F-6BF5D892D0A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IN" sz="1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REPOSITORY &amp; TEAM</a:t>
              </a:r>
            </a:p>
            <a:p>
              <a:endParaRPr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915AC77-E804-E1F4-E066-885B4128A665}"/>
              </a:ext>
            </a:extLst>
          </p:cNvPr>
          <p:cNvSpPr txBox="1"/>
          <p:nvPr/>
        </p:nvSpPr>
        <p:spPr>
          <a:xfrm>
            <a:off x="2514600" y="3348377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2D0047-97EE-3CE2-26EB-81EAA102D1C1}"/>
              </a:ext>
            </a:extLst>
          </p:cNvPr>
          <p:cNvSpPr txBox="1"/>
          <p:nvPr/>
        </p:nvSpPr>
        <p:spPr>
          <a:xfrm>
            <a:off x="1804868" y="1232504"/>
            <a:ext cx="66710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Bank-Account-Management-System/</a:t>
            </a:r>
          </a:p>
          <a:p>
            <a:r>
              <a:rPr lang="en-IN" dirty="0"/>
              <a:t>│</a:t>
            </a:r>
          </a:p>
          <a:p>
            <a:r>
              <a:rPr lang="en-IN" dirty="0"/>
              <a:t>├── README.md</a:t>
            </a:r>
          </a:p>
          <a:p>
            <a:r>
              <a:rPr lang="en-IN" dirty="0"/>
              <a:t>├── database/</a:t>
            </a:r>
          </a:p>
          <a:p>
            <a:r>
              <a:rPr lang="en-IN" dirty="0"/>
              <a:t>│   └── </a:t>
            </a:r>
            <a:r>
              <a:rPr lang="en-IN" dirty="0" err="1"/>
              <a:t>bank_management.sql</a:t>
            </a:r>
            <a:endParaRPr lang="en-IN" dirty="0"/>
          </a:p>
          <a:p>
            <a:r>
              <a:rPr lang="en-IN" dirty="0"/>
              <a:t>├── frontend/</a:t>
            </a:r>
          </a:p>
          <a:p>
            <a:r>
              <a:rPr lang="en-IN" dirty="0"/>
              <a:t>│   ├── index.html</a:t>
            </a:r>
          </a:p>
          <a:p>
            <a:r>
              <a:rPr lang="en-IN" dirty="0"/>
              <a:t>│   ├── style.css</a:t>
            </a:r>
          </a:p>
          <a:p>
            <a:r>
              <a:rPr lang="en-IN" dirty="0"/>
              <a:t>│   └── script.js</a:t>
            </a:r>
          </a:p>
          <a:p>
            <a:r>
              <a:rPr lang="en-IN" dirty="0"/>
              <a:t>├── backend/</a:t>
            </a:r>
          </a:p>
          <a:p>
            <a:r>
              <a:rPr lang="en-IN" dirty="0"/>
              <a:t>│   └── bank_management.cpp</a:t>
            </a:r>
          </a:p>
          <a:p>
            <a:r>
              <a:rPr lang="en-IN" dirty="0"/>
              <a:t>├── documentation/</a:t>
            </a:r>
          </a:p>
          <a:p>
            <a:r>
              <a:rPr lang="en-IN" dirty="0"/>
              <a:t>│   └── project_documentation.pdf</a:t>
            </a:r>
          </a:p>
          <a:p>
            <a:r>
              <a:rPr lang="en-IN" dirty="0"/>
              <a:t>└── screenshots/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CD9770-C102-2AD7-6BBE-9D44306B7AB1}"/>
              </a:ext>
            </a:extLst>
          </p:cNvPr>
          <p:cNvSpPr txBox="1"/>
          <p:nvPr/>
        </p:nvSpPr>
        <p:spPr>
          <a:xfrm rot="10800000" flipV="1">
            <a:off x="608851" y="5496209"/>
            <a:ext cx="92202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Repository Responsibilities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P. Durga Devi:</a:t>
            </a:r>
            <a:r>
              <a:rPr lang="en-IN" dirty="0"/>
              <a:t> Repository creation, branch management, and final integration.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P. Sasi:</a:t>
            </a:r>
            <a:r>
              <a:rPr lang="en-IN" dirty="0"/>
              <a:t> Database files and SQL implementation.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M. </a:t>
            </a:r>
            <a:r>
              <a:rPr lang="en-IN" b="1" dirty="0" err="1"/>
              <a:t>Dedipya</a:t>
            </a:r>
            <a:r>
              <a:rPr lang="en-IN" b="1" dirty="0"/>
              <a:t>:</a:t>
            </a:r>
            <a:r>
              <a:rPr lang="en-IN" dirty="0"/>
              <a:t> Backend/C++ implementation.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K. Chinmai:</a:t>
            </a:r>
            <a:r>
              <a:rPr lang="en-IN" dirty="0"/>
              <a:t> Frontend, testing, and bug fixing.</a:t>
            </a:r>
          </a:p>
        </p:txBody>
      </p:sp>
      <p:pic>
        <p:nvPicPr>
          <p:cNvPr id="22" name="object 3">
            <a:extLst>
              <a:ext uri="{FF2B5EF4-FFF2-40B4-BE49-F238E27FC236}">
                <a16:creationId xmlns:a16="http://schemas.microsoft.com/office/drawing/2014/main" id="{EF0DAC1D-F392-BF5A-688E-8017201F262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74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053952" y="315175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E0D19E-150F-046D-062F-807BA460CA16}"/>
              </a:ext>
            </a:extLst>
          </p:cNvPr>
          <p:cNvSpPr txBox="1"/>
          <p:nvPr/>
        </p:nvSpPr>
        <p:spPr>
          <a:xfrm>
            <a:off x="742201" y="789856"/>
            <a:ext cx="4804614" cy="37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Create Database: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A0046B-D96E-2FDB-58BF-5FFB8E59C5E3}"/>
              </a:ext>
            </a:extLst>
          </p:cNvPr>
          <p:cNvSpPr txBox="1"/>
          <p:nvPr/>
        </p:nvSpPr>
        <p:spPr>
          <a:xfrm>
            <a:off x="1066800" y="1157178"/>
            <a:ext cx="716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CREATE DATABASE </a:t>
            </a:r>
            <a:r>
              <a:rPr lang="en-IN" dirty="0" err="1"/>
              <a:t>Bank_Account_Management</a:t>
            </a:r>
            <a:r>
              <a:rPr lang="en-IN" dirty="0"/>
              <a:t>;</a:t>
            </a:r>
          </a:p>
          <a:p>
            <a:r>
              <a:rPr lang="en-IN" dirty="0"/>
              <a:t>USE </a:t>
            </a:r>
            <a:r>
              <a:rPr lang="en-IN" dirty="0" err="1"/>
              <a:t>Bank_Account_Management</a:t>
            </a:r>
            <a:r>
              <a:rPr lang="en-IN" dirty="0"/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7DC261-C667-1723-F47A-D9B5C3D347AF}"/>
              </a:ext>
            </a:extLst>
          </p:cNvPr>
          <p:cNvSpPr txBox="1"/>
          <p:nvPr/>
        </p:nvSpPr>
        <p:spPr>
          <a:xfrm>
            <a:off x="734495" y="2060916"/>
            <a:ext cx="5334000" cy="372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 Create Tables with Constraints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8252B6-DA2C-88F0-7373-A6FFF6111498}"/>
              </a:ext>
            </a:extLst>
          </p:cNvPr>
          <p:cNvSpPr txBox="1"/>
          <p:nvPr/>
        </p:nvSpPr>
        <p:spPr>
          <a:xfrm>
            <a:off x="1295399" y="2510108"/>
            <a:ext cx="66294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CREATE TABLE Customer ( </a:t>
            </a:r>
          </a:p>
          <a:p>
            <a:r>
              <a:rPr lang="en-IN" sz="2000" dirty="0" err="1"/>
              <a:t>customer_id</a:t>
            </a:r>
            <a:r>
              <a:rPr lang="en-IN" sz="2000" dirty="0"/>
              <a:t> INT PRIMARY KEY, </a:t>
            </a:r>
          </a:p>
          <a:p>
            <a:r>
              <a:rPr lang="en-IN" sz="2000" dirty="0"/>
              <a:t>name VARCHAR(100) NOT NULL,</a:t>
            </a:r>
          </a:p>
          <a:p>
            <a:r>
              <a:rPr lang="en-IN" sz="2000" dirty="0"/>
              <a:t> phone VARCHAR(15) NOT NULL UNIQUE,</a:t>
            </a:r>
          </a:p>
          <a:p>
            <a:r>
              <a:rPr lang="en-IN" sz="2000" dirty="0"/>
              <a:t> email VARCHAR(100) NOT NULL UNIQUE,</a:t>
            </a:r>
          </a:p>
          <a:p>
            <a:r>
              <a:rPr lang="en-IN" sz="2000" dirty="0"/>
              <a:t> address VARCHAR(200) 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86C390-1E55-B1DE-2802-24AC50F9A083}"/>
              </a:ext>
            </a:extLst>
          </p:cNvPr>
          <p:cNvSpPr txBox="1"/>
          <p:nvPr/>
        </p:nvSpPr>
        <p:spPr>
          <a:xfrm rot="10800000" flipV="1">
            <a:off x="1295400" y="4639076"/>
            <a:ext cx="5562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CREATE TABLE Branch ( </a:t>
            </a:r>
          </a:p>
          <a:p>
            <a:r>
              <a:rPr lang="en-IN" sz="2000" dirty="0" err="1"/>
              <a:t>branch_id</a:t>
            </a:r>
            <a:r>
              <a:rPr lang="en-IN" sz="2000" dirty="0"/>
              <a:t> INT PRIMARY KEY, </a:t>
            </a:r>
          </a:p>
          <a:p>
            <a:r>
              <a:rPr lang="en-IN" sz="2000" dirty="0" err="1"/>
              <a:t>branch_name</a:t>
            </a:r>
            <a:r>
              <a:rPr lang="en-IN" sz="2000" dirty="0"/>
              <a:t> VARCHAR(100) NOT NULL, </a:t>
            </a:r>
            <a:r>
              <a:rPr lang="en-IN" sz="2000" dirty="0" err="1"/>
              <a:t>ifsc_code</a:t>
            </a:r>
            <a:r>
              <a:rPr lang="en-IN" sz="2000" dirty="0"/>
              <a:t> VARCHAR(20) NOT NULL UNIQUE, location VARCHAR(100) NOT NULL </a:t>
            </a:r>
          </a:p>
          <a:p>
            <a:r>
              <a:rPr lang="en-IN" sz="20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>
            <a:extLst>
              <a:ext uri="{FF2B5EF4-FFF2-40B4-BE49-F238E27FC236}">
                <a16:creationId xmlns:a16="http://schemas.microsoft.com/office/drawing/2014/main" id="{10CD6C90-E4DD-1065-0825-E9A6AEF7ADA0}"/>
              </a:ext>
            </a:extLst>
          </p:cNvPr>
          <p:cNvSpPr/>
          <p:nvPr/>
        </p:nvSpPr>
        <p:spPr>
          <a:xfrm>
            <a:off x="2789555" y="152400"/>
            <a:ext cx="4479290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D8544-288F-661A-DDC0-B36A21CDF163}"/>
              </a:ext>
            </a:extLst>
          </p:cNvPr>
          <p:cNvSpPr txBox="1"/>
          <p:nvPr/>
        </p:nvSpPr>
        <p:spPr>
          <a:xfrm>
            <a:off x="728850" y="968714"/>
            <a:ext cx="73483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dirty="0"/>
              <a:t>CREATE TABLE </a:t>
            </a:r>
            <a:r>
              <a:rPr lang="en-IN" sz="2000" dirty="0"/>
              <a:t>Transaction ( </a:t>
            </a:r>
            <a:r>
              <a:rPr lang="en-IN" sz="2000" dirty="0" err="1"/>
              <a:t>transaction_id</a:t>
            </a:r>
            <a:r>
              <a:rPr lang="en-IN" sz="2000" dirty="0"/>
              <a:t> INT PRIMARY KEY, </a:t>
            </a:r>
            <a:r>
              <a:rPr lang="en-IN" sz="2000" dirty="0" err="1"/>
              <a:t>account_id</a:t>
            </a:r>
            <a:r>
              <a:rPr lang="en-IN" sz="2000" dirty="0"/>
              <a:t> INT NOT NULL, </a:t>
            </a:r>
            <a:r>
              <a:rPr lang="en-IN" sz="2000" dirty="0" err="1"/>
              <a:t>transaction_date</a:t>
            </a:r>
            <a:r>
              <a:rPr lang="en-IN" sz="2000" dirty="0"/>
              <a:t> DATE NOT NULL, </a:t>
            </a:r>
            <a:r>
              <a:rPr lang="en-IN" sz="2000" dirty="0" err="1"/>
              <a:t>transaction_type</a:t>
            </a:r>
            <a:r>
              <a:rPr lang="en-IN" sz="2000" dirty="0"/>
              <a:t> VARCHAR(20) NOT NULL CHECK (</a:t>
            </a:r>
            <a:r>
              <a:rPr lang="en-IN" sz="2000" dirty="0" err="1"/>
              <a:t>transaction_type</a:t>
            </a:r>
            <a:r>
              <a:rPr lang="en-IN" sz="2000" dirty="0"/>
              <a:t> IN ('Deposit', 'Withdrawal')), amount DECIMAL(12,2) NOT NULL CHECK (amount &gt; 0), FOREIGN KEY (</a:t>
            </a:r>
            <a:r>
              <a:rPr lang="en-IN" sz="2000" dirty="0" err="1"/>
              <a:t>account_id</a:t>
            </a:r>
            <a:r>
              <a:rPr lang="en-IN" sz="2000" dirty="0"/>
              <a:t>) REFERENCES Account(</a:t>
            </a:r>
            <a:r>
              <a:rPr lang="en-IN" sz="2000" dirty="0" err="1"/>
              <a:t>account_id</a:t>
            </a:r>
            <a:r>
              <a:rPr lang="en-IN" sz="2000" dirty="0"/>
              <a:t>) 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89F7A-C624-327B-F546-1C0DE131171B}"/>
              </a:ext>
            </a:extLst>
          </p:cNvPr>
          <p:cNvSpPr txBox="1"/>
          <p:nvPr/>
        </p:nvSpPr>
        <p:spPr>
          <a:xfrm>
            <a:off x="739980" y="3124200"/>
            <a:ext cx="72041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CREATE TABLE </a:t>
            </a:r>
            <a:r>
              <a:rPr lang="en-IN" sz="2000" dirty="0"/>
              <a:t>Transaction ( </a:t>
            </a:r>
          </a:p>
          <a:p>
            <a:r>
              <a:rPr lang="en-IN" sz="2000" dirty="0" err="1"/>
              <a:t>transaction_id</a:t>
            </a:r>
            <a:r>
              <a:rPr lang="en-IN" sz="2000" dirty="0"/>
              <a:t> INT PRIMARY KEY, </a:t>
            </a:r>
          </a:p>
          <a:p>
            <a:r>
              <a:rPr lang="en-IN" sz="2000" dirty="0" err="1"/>
              <a:t>account_id</a:t>
            </a:r>
            <a:r>
              <a:rPr lang="en-IN" sz="2000" dirty="0"/>
              <a:t> INT NOT NULL, </a:t>
            </a:r>
          </a:p>
          <a:p>
            <a:r>
              <a:rPr lang="en-IN" sz="2000" dirty="0" err="1"/>
              <a:t>transaction_date</a:t>
            </a:r>
            <a:r>
              <a:rPr lang="en-IN" sz="2000" dirty="0"/>
              <a:t> DATE NOT NULL, </a:t>
            </a:r>
          </a:p>
          <a:p>
            <a:r>
              <a:rPr lang="en-IN" sz="2000" dirty="0" err="1"/>
              <a:t>transaction_type</a:t>
            </a:r>
            <a:r>
              <a:rPr lang="en-IN" sz="2000" dirty="0"/>
              <a:t> VARCHAR(20) NOT NULL CHECK (</a:t>
            </a:r>
            <a:r>
              <a:rPr lang="en-IN" sz="2000" dirty="0" err="1"/>
              <a:t>transaction_type</a:t>
            </a:r>
            <a:r>
              <a:rPr lang="en-IN" sz="2000" dirty="0"/>
              <a:t> IN ('Deposit', 'Withdrawal')), </a:t>
            </a:r>
          </a:p>
          <a:p>
            <a:r>
              <a:rPr lang="en-IN" sz="2000" dirty="0"/>
              <a:t>amount DECIMAL(12,2) NOT NULL CHECK (amount &gt; 0), FOREIGN KEY (</a:t>
            </a:r>
            <a:r>
              <a:rPr lang="en-IN" sz="2000" dirty="0" err="1"/>
              <a:t>account_id</a:t>
            </a:r>
            <a:r>
              <a:rPr lang="en-IN" sz="2000" dirty="0"/>
              <a:t>) REFERENCES Account(</a:t>
            </a:r>
            <a:r>
              <a:rPr lang="en-IN" sz="2000" dirty="0" err="1"/>
              <a:t>account_id</a:t>
            </a:r>
            <a:r>
              <a:rPr lang="en-IN" sz="2000" dirty="0"/>
              <a:t>) );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D56197AF-8145-A134-E14B-25E863706E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22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DD775DDA-B88E-14D9-5482-AEF264033D16}"/>
              </a:ext>
            </a:extLst>
          </p:cNvPr>
          <p:cNvSpPr/>
          <p:nvPr/>
        </p:nvSpPr>
        <p:spPr>
          <a:xfrm>
            <a:off x="2789555" y="152400"/>
            <a:ext cx="4479290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D21D9-19B2-4A40-D64D-EBED77078F69}"/>
              </a:ext>
            </a:extLst>
          </p:cNvPr>
          <p:cNvSpPr txBox="1"/>
          <p:nvPr/>
        </p:nvSpPr>
        <p:spPr>
          <a:xfrm>
            <a:off x="838200" y="990600"/>
            <a:ext cx="7620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CREATE TABLE Loan ( </a:t>
            </a:r>
          </a:p>
          <a:p>
            <a:r>
              <a:rPr lang="en-IN" dirty="0" err="1"/>
              <a:t>loan_id</a:t>
            </a:r>
            <a:r>
              <a:rPr lang="en-IN" dirty="0"/>
              <a:t> INT PRIMARY KEY, </a:t>
            </a:r>
          </a:p>
          <a:p>
            <a:r>
              <a:rPr lang="en-IN" dirty="0" err="1"/>
              <a:t>customer_id</a:t>
            </a:r>
            <a:r>
              <a:rPr lang="en-IN" dirty="0"/>
              <a:t> INT NOT NULL, </a:t>
            </a:r>
          </a:p>
          <a:p>
            <a:r>
              <a:rPr lang="en-IN" dirty="0" err="1"/>
              <a:t>loan_type</a:t>
            </a:r>
            <a:r>
              <a:rPr lang="en-IN" dirty="0"/>
              <a:t> VARCHAR(30) NOT NULL, </a:t>
            </a:r>
          </a:p>
          <a:p>
            <a:r>
              <a:rPr lang="en-IN" dirty="0" err="1"/>
              <a:t>loan_amount</a:t>
            </a:r>
            <a:r>
              <a:rPr lang="en-IN" dirty="0"/>
              <a:t> DECIMAL(12,2) NOT NULL CHECK (</a:t>
            </a:r>
            <a:r>
              <a:rPr lang="en-IN" dirty="0" err="1"/>
              <a:t>loan_amount</a:t>
            </a:r>
            <a:r>
              <a:rPr lang="en-IN" dirty="0"/>
              <a:t> &gt; 0), </a:t>
            </a:r>
            <a:r>
              <a:rPr lang="en-IN" dirty="0" err="1"/>
              <a:t>issue_date</a:t>
            </a:r>
            <a:r>
              <a:rPr lang="en-IN" dirty="0"/>
              <a:t> DATE NOT NULL, </a:t>
            </a:r>
          </a:p>
          <a:p>
            <a:r>
              <a:rPr lang="en-IN" dirty="0"/>
              <a:t>status VARCHAR(20) DEFAULT 'Active’, </a:t>
            </a:r>
          </a:p>
          <a:p>
            <a:r>
              <a:rPr lang="en-IN" dirty="0"/>
              <a:t>FOREIGN KEY (</a:t>
            </a:r>
            <a:r>
              <a:rPr lang="en-IN" dirty="0" err="1"/>
              <a:t>customer_id</a:t>
            </a:r>
            <a:r>
              <a:rPr lang="en-IN" dirty="0"/>
              <a:t>) REFERENCES Customer(</a:t>
            </a:r>
            <a:r>
              <a:rPr lang="en-IN" dirty="0" err="1"/>
              <a:t>customer_id</a:t>
            </a:r>
            <a:r>
              <a:rPr lang="en-IN" dirty="0"/>
              <a:t>) );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DB5AA-20AD-086F-F1F1-E76181C0C0C4}"/>
              </a:ext>
            </a:extLst>
          </p:cNvPr>
          <p:cNvSpPr txBox="1"/>
          <p:nvPr/>
        </p:nvSpPr>
        <p:spPr>
          <a:xfrm>
            <a:off x="838200" y="3720565"/>
            <a:ext cx="8077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CREATE TABLE Employee ( </a:t>
            </a:r>
          </a:p>
          <a:p>
            <a:r>
              <a:rPr lang="en-IN" sz="2000" dirty="0" err="1"/>
              <a:t>employee_id</a:t>
            </a:r>
            <a:r>
              <a:rPr lang="en-IN" sz="2000" dirty="0"/>
              <a:t> INT PRIMARY KEY,</a:t>
            </a:r>
          </a:p>
          <a:p>
            <a:r>
              <a:rPr lang="en-IN" sz="2000" dirty="0"/>
              <a:t> </a:t>
            </a:r>
            <a:r>
              <a:rPr lang="en-IN" sz="2000" dirty="0" err="1"/>
              <a:t>branch_id</a:t>
            </a:r>
            <a:r>
              <a:rPr lang="en-IN" sz="2000" dirty="0"/>
              <a:t> INT NOT NULL, </a:t>
            </a:r>
          </a:p>
          <a:p>
            <a:r>
              <a:rPr lang="en-IN" sz="2000" dirty="0"/>
              <a:t>name VARCHAR(100) NOT NULL,</a:t>
            </a:r>
          </a:p>
          <a:p>
            <a:r>
              <a:rPr lang="en-IN" sz="2000" dirty="0"/>
              <a:t> role VARCHAR(50) NOT NULL, </a:t>
            </a:r>
          </a:p>
          <a:p>
            <a:r>
              <a:rPr lang="en-IN" sz="2000" dirty="0"/>
              <a:t>phone VARCHAR(15) NOT NULL UNIQUE, </a:t>
            </a:r>
          </a:p>
          <a:p>
            <a:r>
              <a:rPr lang="en-IN" sz="2000" dirty="0"/>
              <a:t>FOREIGN KEY (</a:t>
            </a:r>
            <a:r>
              <a:rPr lang="en-IN" sz="2000" dirty="0" err="1"/>
              <a:t>branch_id</a:t>
            </a:r>
            <a:r>
              <a:rPr lang="en-IN" sz="2000" dirty="0"/>
              <a:t>) REFERENCES Branch(</a:t>
            </a:r>
            <a:r>
              <a:rPr lang="en-IN" sz="2000" dirty="0" err="1"/>
              <a:t>branch_id</a:t>
            </a:r>
            <a:r>
              <a:rPr lang="en-IN" sz="2000" dirty="0"/>
              <a:t>) );</a:t>
            </a:r>
            <a:r>
              <a:rPr lang="en-IN" sz="2000" dirty="0">
                <a:solidFill>
                  <a:schemeClr val="bg1"/>
                </a:solidFill>
              </a:rPr>
              <a:t>SE &amp; CONSTRAINTS</a:t>
            </a: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42F4A826-1164-843F-16BE-584BB84229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23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21227C9-CB9E-3B0B-095F-41DF4D09A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434851"/>
              </p:ext>
            </p:extLst>
          </p:nvPr>
        </p:nvGraphicFramePr>
        <p:xfrm>
          <a:off x="820236" y="2002163"/>
          <a:ext cx="8948736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7184">
                  <a:extLst>
                    <a:ext uri="{9D8B030D-6E8A-4147-A177-3AD203B41FA5}">
                      <a16:colId xmlns:a16="http://schemas.microsoft.com/office/drawing/2014/main" val="3221800272"/>
                    </a:ext>
                  </a:extLst>
                </a:gridCol>
                <a:gridCol w="2237184">
                  <a:extLst>
                    <a:ext uri="{9D8B030D-6E8A-4147-A177-3AD203B41FA5}">
                      <a16:colId xmlns:a16="http://schemas.microsoft.com/office/drawing/2014/main" val="1988251797"/>
                    </a:ext>
                  </a:extLst>
                </a:gridCol>
                <a:gridCol w="2237184">
                  <a:extLst>
                    <a:ext uri="{9D8B030D-6E8A-4147-A177-3AD203B41FA5}">
                      <a16:colId xmlns:a16="http://schemas.microsoft.com/office/drawing/2014/main" val="1232126044"/>
                    </a:ext>
                  </a:extLst>
                </a:gridCol>
                <a:gridCol w="2237184">
                  <a:extLst>
                    <a:ext uri="{9D8B030D-6E8A-4147-A177-3AD203B41FA5}">
                      <a16:colId xmlns:a16="http://schemas.microsoft.com/office/drawing/2014/main" val="3744417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97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Sunita Patel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ABCDE1234F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6"/>
                        </a:rPr>
                        <a:t>sunita@bank.in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2745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Vijay Kumar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XYZPQ5678G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7"/>
                        </a:rPr>
                        <a:t>vijay@bank.in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93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Meena Reddy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LMNOP9012H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8"/>
                        </a:rPr>
                        <a:t>meena@bank.in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247591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372D5C7-F394-B93C-AA1B-57FF585A6011}"/>
              </a:ext>
            </a:extLst>
          </p:cNvPr>
          <p:cNvSpPr txBox="1"/>
          <p:nvPr/>
        </p:nvSpPr>
        <p:spPr>
          <a:xfrm>
            <a:off x="820236" y="1090437"/>
            <a:ext cx="5029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SAMPLE DATA INSERTION</a:t>
            </a:r>
            <a:endParaRPr lang="en-IN" b="1" dirty="0"/>
          </a:p>
          <a:p>
            <a:pPr>
              <a:buNone/>
            </a:pPr>
            <a:r>
              <a:rPr lang="en-IN" b="1" dirty="0"/>
              <a:t>Sample Customer Data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F4707FA-BC0B-370B-CA96-DDA4DDCA5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060952"/>
              </p:ext>
            </p:extLst>
          </p:nvPr>
        </p:nvGraphicFramePr>
        <p:xfrm>
          <a:off x="744584" y="5043853"/>
          <a:ext cx="8948736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7184">
                  <a:extLst>
                    <a:ext uri="{9D8B030D-6E8A-4147-A177-3AD203B41FA5}">
                      <a16:colId xmlns:a16="http://schemas.microsoft.com/office/drawing/2014/main" val="1474295112"/>
                    </a:ext>
                  </a:extLst>
                </a:gridCol>
                <a:gridCol w="2237184">
                  <a:extLst>
                    <a:ext uri="{9D8B030D-6E8A-4147-A177-3AD203B41FA5}">
                      <a16:colId xmlns:a16="http://schemas.microsoft.com/office/drawing/2014/main" val="41814606"/>
                    </a:ext>
                  </a:extLst>
                </a:gridCol>
                <a:gridCol w="2237184">
                  <a:extLst>
                    <a:ext uri="{9D8B030D-6E8A-4147-A177-3AD203B41FA5}">
                      <a16:colId xmlns:a16="http://schemas.microsoft.com/office/drawing/2014/main" val="960216922"/>
                    </a:ext>
                  </a:extLst>
                </a:gridCol>
                <a:gridCol w="2237184">
                  <a:extLst>
                    <a:ext uri="{9D8B030D-6E8A-4147-A177-3AD203B41FA5}">
                      <a16:colId xmlns:a16="http://schemas.microsoft.com/office/drawing/2014/main" val="3329811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Account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432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1234567890123456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Savings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192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9876543210987654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Current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783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1111222233334444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Savings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Dormant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56851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A1A0D74-CD1C-EEA1-0F63-98A4FD1293A1}"/>
              </a:ext>
            </a:extLst>
          </p:cNvPr>
          <p:cNvSpPr txBox="1"/>
          <p:nvPr/>
        </p:nvSpPr>
        <p:spPr>
          <a:xfrm>
            <a:off x="836250" y="3820963"/>
            <a:ext cx="5029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Sample Account Data</a:t>
            </a:r>
          </a:p>
          <a:p>
            <a:pPr>
              <a:buNone/>
            </a:pPr>
            <a:r>
              <a:rPr lang="en-IN" b="1" dirty="0"/>
              <a:t>Add a screenshot of your inserted database records here.</a:t>
            </a: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7B822-6DE9-094D-9CA8-68610312162F}"/>
              </a:ext>
            </a:extLst>
          </p:cNvPr>
          <p:cNvSpPr txBox="1"/>
          <p:nvPr/>
        </p:nvSpPr>
        <p:spPr>
          <a:xfrm>
            <a:off x="1217704" y="1006899"/>
            <a:ext cx="655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DDL, DML &amp; DQL OPERATIONS</a:t>
            </a:r>
          </a:p>
          <a:p>
            <a:pPr>
              <a:buNone/>
            </a:pPr>
            <a:r>
              <a:rPr lang="en-IN" b="1" dirty="0"/>
              <a:t>DDL – Data Definition Language</a:t>
            </a:r>
          </a:p>
          <a:p>
            <a:pPr>
              <a:buNone/>
            </a:pPr>
            <a:r>
              <a:rPr lang="en-IN" dirty="0"/>
              <a:t>Used to create and modify database structures.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CREATE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ALTER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DROP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1CC88D-CB8A-3D92-8ABD-D297B09C4B8B}"/>
              </a:ext>
            </a:extLst>
          </p:cNvPr>
          <p:cNvSpPr txBox="1"/>
          <p:nvPr/>
        </p:nvSpPr>
        <p:spPr>
          <a:xfrm>
            <a:off x="1217704" y="3147536"/>
            <a:ext cx="5029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DML – Data Manipulation Language</a:t>
            </a:r>
          </a:p>
          <a:p>
            <a:pPr>
              <a:buNone/>
            </a:pPr>
            <a:r>
              <a:rPr lang="en-IN" dirty="0"/>
              <a:t>Used to manage data stored in tables.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INSERT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UPDATE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DELETE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46A60A-A721-C107-007B-981E88014201}"/>
              </a:ext>
            </a:extLst>
          </p:cNvPr>
          <p:cNvSpPr txBox="1"/>
          <p:nvPr/>
        </p:nvSpPr>
        <p:spPr>
          <a:xfrm>
            <a:off x="1217704" y="4865753"/>
            <a:ext cx="78500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DQL – Data Query Language</a:t>
            </a:r>
          </a:p>
          <a:p>
            <a:pPr>
              <a:buNone/>
            </a:pPr>
            <a:r>
              <a:rPr lang="en-IN" dirty="0"/>
              <a:t>Used to retrieve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SELECT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These SQL operations are used to create the database, insert records, update information, delete records, and retrieve banking data.</a:t>
            </a: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E78F98-072F-FB3C-8E6F-A7F0EE3A7500}"/>
              </a:ext>
            </a:extLst>
          </p:cNvPr>
          <p:cNvSpPr txBox="1"/>
          <p:nvPr/>
        </p:nvSpPr>
        <p:spPr>
          <a:xfrm>
            <a:off x="720771" y="1283319"/>
            <a:ext cx="88392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CRUD &amp; SQL QUERIES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CRUD Operations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CREATE</a:t>
            </a:r>
            <a:br>
              <a:rPr lang="en-IN" sz="2400" dirty="0"/>
            </a:br>
            <a:r>
              <a:rPr lang="en-IN" sz="2400" dirty="0"/>
              <a:t>Add new customer, account, or transaction records.</a:t>
            </a:r>
          </a:p>
          <a:p>
            <a:pPr>
              <a:buNone/>
            </a:pPr>
            <a:r>
              <a:rPr lang="en-IN" sz="2400" b="1" dirty="0"/>
              <a:t>READ</a:t>
            </a:r>
            <a:br>
              <a:rPr lang="en-IN" sz="2400" dirty="0"/>
            </a:br>
            <a:r>
              <a:rPr lang="en-IN" sz="2400" dirty="0"/>
              <a:t>View customer details, account balance, and transaction history.</a:t>
            </a:r>
          </a:p>
          <a:p>
            <a:pPr>
              <a:buNone/>
            </a:pPr>
            <a:r>
              <a:rPr lang="en-IN" sz="2400" b="1" dirty="0"/>
              <a:t>UPDATE</a:t>
            </a:r>
            <a:br>
              <a:rPr lang="en-IN" sz="2400" dirty="0"/>
            </a:br>
            <a:r>
              <a:rPr lang="en-IN" sz="2400" dirty="0"/>
              <a:t>Modify customer information, account status, or balance.</a:t>
            </a:r>
          </a:p>
          <a:p>
            <a:pPr>
              <a:buNone/>
            </a:pPr>
            <a:r>
              <a:rPr lang="en-IN" sz="2400" b="1" dirty="0"/>
              <a:t>DELETE</a:t>
            </a:r>
            <a:br>
              <a:rPr lang="en-IN" sz="2400" dirty="0"/>
            </a:br>
            <a:r>
              <a:rPr lang="en-IN" sz="2400" dirty="0"/>
              <a:t>Remove permitted records from the database.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C78892-7569-DCA2-400F-C6D6F1EC1653}"/>
              </a:ext>
            </a:extLst>
          </p:cNvPr>
          <p:cNvSpPr txBox="1"/>
          <p:nvPr/>
        </p:nvSpPr>
        <p:spPr>
          <a:xfrm>
            <a:off x="457200" y="901461"/>
            <a:ext cx="86868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Sample Queries</a:t>
            </a: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SELECT * FROM Customer;</a:t>
            </a:r>
          </a:p>
          <a:p>
            <a:pPr rtl="0">
              <a:buNone/>
            </a:pPr>
            <a:endParaRPr lang="en-IN" sz="2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SELECT * FROM Account;</a:t>
            </a:r>
          </a:p>
          <a:p>
            <a:pPr rtl="0">
              <a:buNone/>
            </a:pPr>
            <a:endParaRPr lang="en-IN" sz="2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SELECT </a:t>
            </a:r>
            <a:r>
              <a:rPr lang="en-IN" sz="2400" dirty="0" err="1">
                <a:latin typeface="Courier New" panose="02070309020205020404" pitchFamily="49" charset="0"/>
              </a:rPr>
              <a:t>account_number</a:t>
            </a:r>
            <a:r>
              <a:rPr lang="en-IN" sz="2400" dirty="0">
                <a:latin typeface="Courier New" panose="02070309020205020404" pitchFamily="49" charset="0"/>
              </a:rPr>
              <a:t>, balance</a:t>
            </a: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FROM Account</a:t>
            </a: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WHERE balance &gt; 10000;</a:t>
            </a:r>
          </a:p>
          <a:p>
            <a:pPr rtl="0">
              <a:buNone/>
            </a:pPr>
            <a:endParaRPr lang="en-IN" sz="2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SELECT * FROM Transaction</a:t>
            </a: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WHERE </a:t>
            </a:r>
            <a:r>
              <a:rPr lang="en-IN" sz="2400" dirty="0" err="1">
                <a:latin typeface="Courier New" panose="02070309020205020404" pitchFamily="49" charset="0"/>
              </a:rPr>
              <a:t>account_id</a:t>
            </a:r>
            <a:r>
              <a:rPr lang="en-IN" sz="2400" dirty="0">
                <a:latin typeface="Courier New" panose="02070309020205020404" pitchFamily="49" charset="0"/>
              </a:rPr>
              <a:t> = 1;</a:t>
            </a:r>
          </a:p>
          <a:p>
            <a:pPr>
              <a:buNone/>
            </a:pPr>
            <a:r>
              <a:rPr lang="en-IN" sz="2400" b="1" dirty="0"/>
              <a:t>Join Query</a:t>
            </a: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SELECT </a:t>
            </a:r>
            <a:r>
              <a:rPr lang="en-IN" sz="2400" dirty="0" err="1">
                <a:latin typeface="Courier New" panose="02070309020205020404" pitchFamily="49" charset="0"/>
              </a:rPr>
              <a:t>c.first_name</a:t>
            </a:r>
            <a:r>
              <a:rPr lang="en-IN" sz="2400" dirty="0">
                <a:latin typeface="Courier New" panose="02070309020205020404" pitchFamily="49" charset="0"/>
              </a:rPr>
              <a:t>, </a:t>
            </a:r>
            <a:r>
              <a:rPr lang="en-IN" sz="2400" dirty="0" err="1">
                <a:latin typeface="Courier New" panose="02070309020205020404" pitchFamily="49" charset="0"/>
              </a:rPr>
              <a:t>c.last_name</a:t>
            </a:r>
            <a:r>
              <a:rPr lang="en-IN" sz="2400" dirty="0">
                <a:latin typeface="Courier New" panose="02070309020205020404" pitchFamily="49" charset="0"/>
              </a:rPr>
              <a:t>,</a:t>
            </a: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       </a:t>
            </a:r>
            <a:r>
              <a:rPr lang="en-IN" sz="2400" dirty="0" err="1">
                <a:latin typeface="Courier New" panose="02070309020205020404" pitchFamily="49" charset="0"/>
              </a:rPr>
              <a:t>a.account_number</a:t>
            </a:r>
            <a:r>
              <a:rPr lang="en-IN" sz="2400" dirty="0">
                <a:latin typeface="Courier New" panose="02070309020205020404" pitchFamily="49" charset="0"/>
              </a:rPr>
              <a:t>, </a:t>
            </a:r>
            <a:r>
              <a:rPr lang="en-IN" sz="2400" dirty="0" err="1">
                <a:latin typeface="Courier New" panose="02070309020205020404" pitchFamily="49" charset="0"/>
              </a:rPr>
              <a:t>a.balance</a:t>
            </a:r>
            <a:endParaRPr lang="en-IN" sz="2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FROM Customer c</a:t>
            </a: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JOIN Account a</a:t>
            </a:r>
          </a:p>
          <a:p>
            <a:pPr rtl="0">
              <a:buNone/>
            </a:pPr>
            <a:r>
              <a:rPr lang="en-IN" sz="2400" dirty="0">
                <a:latin typeface="Courier New" panose="02070309020205020404" pitchFamily="49" charset="0"/>
              </a:rPr>
              <a:t>ON </a:t>
            </a:r>
            <a:r>
              <a:rPr lang="en-IN" sz="2400" dirty="0" err="1">
                <a:latin typeface="Courier New" panose="02070309020205020404" pitchFamily="49" charset="0"/>
              </a:rPr>
              <a:t>c.customer_id</a:t>
            </a:r>
            <a:r>
              <a:rPr lang="en-IN" sz="2400" dirty="0">
                <a:latin typeface="Courier New" panose="02070309020205020404" pitchFamily="49" charset="0"/>
              </a:rPr>
              <a:t> = </a:t>
            </a:r>
            <a:r>
              <a:rPr lang="en-IN" sz="2400" dirty="0" err="1">
                <a:latin typeface="Courier New" panose="02070309020205020404" pitchFamily="49" charset="0"/>
              </a:rPr>
              <a:t>a.customer_id</a:t>
            </a:r>
            <a:r>
              <a:rPr lang="en-IN" sz="2400" dirty="0">
                <a:latin typeface="Courier New" panose="02070309020205020404" pitchFamily="49" charset="0"/>
              </a:rPr>
              <a:t>;</a:t>
            </a: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03E7B9A9-46FC-8C31-EAF4-9AA87AEE2B1B}"/>
              </a:ext>
            </a:extLst>
          </p:cNvPr>
          <p:cNvGrpSpPr/>
          <p:nvPr/>
        </p:nvGrpSpPr>
        <p:grpSpPr>
          <a:xfrm>
            <a:off x="2590800" y="-13699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1010D574-EC78-2C29-902E-3641DBE0086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1E3012CE-D90B-02EF-8AC7-6C6B3D138FE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7A870721-67F7-CB55-9B08-133FB627783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04DA35A-AE37-9E51-F940-BEDD27DA61E7}"/>
                </a:ext>
              </a:extLst>
            </p:cNvPr>
            <p:cNvSpPr/>
            <p:nvPr/>
          </p:nvSpPr>
          <p:spPr>
            <a:xfrm>
              <a:off x="2916067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I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CRUD &amp; SQL QUERIES</a:t>
              </a:r>
            </a:p>
            <a:p>
              <a:endParaRPr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78CD8-A1B6-6631-4703-C504D792FCEB}"/>
              </a:ext>
            </a:extLst>
          </p:cNvPr>
          <p:cNvSpPr txBox="1"/>
          <p:nvPr/>
        </p:nvSpPr>
        <p:spPr>
          <a:xfrm>
            <a:off x="2514600" y="329700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F7E9193C-534B-99D6-F1C6-1A9337295DF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39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E13FF-9D27-966A-0697-FC0B07B1B9FA}"/>
              </a:ext>
            </a:extLst>
          </p:cNvPr>
          <p:cNvSpPr txBox="1"/>
          <p:nvPr/>
        </p:nvSpPr>
        <p:spPr>
          <a:xfrm>
            <a:off x="838200" y="1471730"/>
            <a:ext cx="8763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DATA INTEGRITY &amp; VALIDATION</a:t>
            </a:r>
          </a:p>
          <a:p>
            <a:pPr>
              <a:buNone/>
            </a:pPr>
            <a:r>
              <a:rPr lang="en-IN" sz="2400" dirty="0"/>
              <a:t>The system maintains accurate and consistent data using database constraints.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Primary Key</a:t>
            </a:r>
            <a:r>
              <a:rPr lang="en-IN" sz="2400" dirty="0"/>
              <a:t> prevents duplicate IDs.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Foreign Key</a:t>
            </a:r>
            <a:r>
              <a:rPr lang="en-IN" sz="2400" dirty="0"/>
              <a:t> prevents invalid relationships.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UNIQUE</a:t>
            </a:r>
            <a:r>
              <a:rPr lang="en-IN" sz="2400" dirty="0"/>
              <a:t> prevents duplicate PAN, email, account number, and IFSC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NOT NULL</a:t>
            </a:r>
            <a:r>
              <a:rPr lang="en-IN" sz="2400" dirty="0"/>
              <a:t> ensures mandatory information is entered.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CHECK</a:t>
            </a:r>
            <a:r>
              <a:rPr lang="en-IN" sz="2400" dirty="0"/>
              <a:t> validates values such as transaction amount.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Referential Integrity</a:t>
            </a:r>
            <a:r>
              <a:rPr lang="en-IN" sz="2400" dirty="0"/>
              <a:t> prevents orphan records.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Normalization</a:t>
            </a:r>
            <a:r>
              <a:rPr lang="en-IN" sz="2400" dirty="0"/>
              <a:t> reduces unnecessary data duplication.</a:t>
            </a:r>
          </a:p>
          <a:p>
            <a:pPr>
              <a:buNone/>
            </a:pPr>
            <a:r>
              <a:rPr lang="en-IN" sz="2400" b="1" dirty="0"/>
              <a:t>Result:</a:t>
            </a:r>
            <a:r>
              <a:rPr lang="en-IN" sz="2400" dirty="0"/>
              <a:t> Reliable, consistent, and valid banking data.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553946" y="1000999"/>
            <a:ext cx="92583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PROJECT DOCUMENTATION</a:t>
            </a:r>
          </a:p>
          <a:p>
            <a:r>
              <a:rPr lang="en-IN" sz="2400" dirty="0"/>
              <a:t>The project documentation contains:</a:t>
            </a:r>
          </a:p>
          <a:p>
            <a:pPr lvl="0"/>
            <a:r>
              <a:rPr lang="en-IN" sz="2400" dirty="0"/>
              <a:t>Project objective</a:t>
            </a:r>
          </a:p>
          <a:p>
            <a:pPr lvl="0"/>
            <a:r>
              <a:rPr lang="en-IN" sz="2400" dirty="0"/>
              <a:t>Problem statement</a:t>
            </a:r>
          </a:p>
          <a:p>
            <a:pPr lvl="0"/>
            <a:r>
              <a:rPr lang="en-IN" sz="2400" dirty="0"/>
              <a:t>Entities and attributes</a:t>
            </a:r>
          </a:p>
          <a:p>
            <a:pPr lvl="0"/>
            <a:r>
              <a:rPr lang="en-IN" sz="2400" dirty="0"/>
              <a:t>ER diagram</a:t>
            </a:r>
          </a:p>
          <a:p>
            <a:pPr lvl="0"/>
            <a:r>
              <a:rPr lang="en-IN" sz="2400" dirty="0"/>
              <a:t>Relational database schema</a:t>
            </a:r>
          </a:p>
          <a:p>
            <a:pPr lvl="0"/>
            <a:r>
              <a:rPr lang="en-IN" sz="2400" dirty="0"/>
              <a:t>Primary and Foreign Keys</a:t>
            </a:r>
          </a:p>
          <a:p>
            <a:pPr lvl="0"/>
            <a:r>
              <a:rPr lang="en-IN" sz="2400" dirty="0"/>
              <a:t>Database constraints</a:t>
            </a:r>
          </a:p>
          <a:p>
            <a:pPr lvl="0"/>
            <a:r>
              <a:rPr lang="en-IN" sz="2400" dirty="0"/>
              <a:t>SQL operations and queries</a:t>
            </a:r>
          </a:p>
          <a:p>
            <a:pPr lvl="0"/>
            <a:r>
              <a:rPr lang="en-IN" sz="2400" dirty="0"/>
              <a:t>CRUD operations</a:t>
            </a:r>
          </a:p>
          <a:p>
            <a:pPr lvl="0"/>
            <a:r>
              <a:rPr lang="en-IN" sz="2400" dirty="0"/>
              <a:t>Sample data</a:t>
            </a:r>
          </a:p>
          <a:p>
            <a:pPr lvl="0"/>
            <a:r>
              <a:rPr lang="en-IN" sz="2400" dirty="0"/>
              <a:t>Data integrity and validation</a:t>
            </a:r>
          </a:p>
          <a:p>
            <a:pPr lvl="0"/>
            <a:r>
              <a:rPr lang="en-IN" sz="2400" dirty="0"/>
              <a:t>Screenshots of database execution</a:t>
            </a:r>
          </a:p>
          <a:p>
            <a:pPr lvl="0"/>
            <a:r>
              <a:rPr lang="en-IN" sz="2400" dirty="0"/>
              <a:t>Future enhancements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DF5A67-7114-E247-82D7-5A0A174701DB}"/>
              </a:ext>
            </a:extLst>
          </p:cNvPr>
          <p:cNvSpPr txBox="1"/>
          <p:nvPr/>
        </p:nvSpPr>
        <p:spPr>
          <a:xfrm>
            <a:off x="838200" y="1030871"/>
            <a:ext cx="822237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DEMONSTRATE &amp; PRESENT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Database Demonstration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Create the database and tables.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Insert sample customer and account data. 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Display stored records using </a:t>
            </a:r>
            <a:r>
              <a:rPr lang="en-IN" sz="2400" dirty="0">
                <a:latin typeface="Courier New" panose="02070309020205020404" pitchFamily="49" charset="0"/>
              </a:rPr>
              <a:t>SELECT</a:t>
            </a:r>
            <a:r>
              <a:rPr lang="en-IN" sz="2400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Perform deposit and withdrawal-related updates.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Display updated account balance.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View transaction information.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Demonstrate JOIN queries between related tables.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Show constraints and validation.</a:t>
            </a:r>
          </a:p>
          <a:p>
            <a:pPr>
              <a:buNone/>
            </a:pPr>
            <a:r>
              <a:rPr lang="en-IN" sz="2400" b="1" dirty="0"/>
              <a:t>Expected Output</a:t>
            </a:r>
          </a:p>
          <a:p>
            <a:pPr>
              <a:buNone/>
            </a:pPr>
            <a:r>
              <a:rPr lang="en-IN" sz="2400" dirty="0"/>
              <a:t>The system successfully stores, retrieves, updates, and manages banking information using a relational database.</a:t>
            </a:r>
          </a:p>
          <a:p>
            <a:pPr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A5-587E-B887-5609-1F007AA8F61F}"/>
              </a:ext>
            </a:extLst>
          </p:cNvPr>
          <p:cNvSpPr txBox="1"/>
          <p:nvPr/>
        </p:nvSpPr>
        <p:spPr>
          <a:xfrm>
            <a:off x="685800" y="1028476"/>
            <a:ext cx="85344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CONCLUSION</a:t>
            </a:r>
          </a:p>
          <a:p>
            <a:pPr>
              <a:buNone/>
            </a:pPr>
            <a:r>
              <a:rPr lang="en-IN" sz="2000" dirty="0"/>
              <a:t>The </a:t>
            </a:r>
            <a:r>
              <a:rPr lang="en-IN" sz="2000" b="1" dirty="0"/>
              <a:t>Bank Account Management System</a:t>
            </a:r>
            <a:r>
              <a:rPr lang="en-IN" sz="2000" dirty="0"/>
              <a:t> provides an organized and efficient way to manage banking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Manages customers, accounts, branches, transactions, loans, and employees.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Uses a relational database for structured data storage.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Uses Primary Keys and Foreign Keys to maintain relationships.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Uses constraints to improve data integrity and accuracy.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SQL operations support insertion, retrieval, updating, and deletion of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Demonstrates practical implementation of DBMS concepts in a banking system.</a:t>
            </a:r>
          </a:p>
          <a:p>
            <a:pPr>
              <a:buNone/>
            </a:pPr>
            <a:r>
              <a:rPr lang="en-IN" sz="2000" b="1" dirty="0"/>
              <a:t>Future Enhancements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Online banking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Secure login and authentication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Fund transfer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Mobile application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Transaction notifications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Reports and analytics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Automated loan and EMI management</a:t>
            </a: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2794</TotalTime>
  <Words>1969</Words>
  <Application>Microsoft Office PowerPoint</Application>
  <PresentationFormat>Custom</PresentationFormat>
  <Paragraphs>393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Cambria</vt:lpstr>
      <vt:lpstr>Courier New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DurgaDevi Poluri</cp:lastModifiedBy>
  <cp:revision>50</cp:revision>
  <cp:lastPrinted>2025-10-14T18:21:49Z</cp:lastPrinted>
  <dcterms:created xsi:type="dcterms:W3CDTF">2025-10-10T08:28:06Z</dcterms:created>
  <dcterms:modified xsi:type="dcterms:W3CDTF">2026-09-14T17:59:45Z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